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Court Agent Agreement Rate by Prompt Version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F21-002 (numeric)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62.5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F21-001 (qualitative)</c:v>
                </c:pt>
              </c:strCache>
            </c:strRef>
          </c:tx>
          <c:spPr>
            <a:solidFill>
              <a:srgbClr val="7FA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100</c:v>
                </c:pt>
                <c:pt idx="2">
                  <c:v>57.1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l"/>
        <c:majorGridlines>
          <c:spPr>
            <a:ln w="12700" cap="flat">
              <a:solidFill>
                <a:srgbClr val="E4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3A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project, the Fusion21 partnership, and the supervisory context before moving into the problem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why this matters before showing the system: real cost, real time pressure, and a process-compliance standard rather than a merits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agents left to right. The Court agent is the load-bearing one for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dissertation's central empirical result: three iterations, each with a distinct, measured failure mode, ending in a Court agent that is both accurate and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chart: V2 looks perfect on both scenarios but is lying on the qualitative one. V3 trades a lower number for an honest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side: the legal and theoretical materials the agents are grounded in. Right side: real benchmark cases used to sanity-check the design, note the CA wins as often as it 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Keep real-case grounding framed as active next-phase work in progress, not a finished feature, then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0680" y="502920"/>
            <a:ext cx="1280160" cy="12801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pptx_build/navy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229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574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LLM Negotiation for</a:t>
            </a:r>
            <a:endParaRPr lang="en-US" sz="3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Dispute Resolution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371600" y="37033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Simulating UK procurement disputes with negotiating LLM agents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FUSION21  ×  UNIVERSITY OF MANCHESTER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Shreyas Dilip Lawand   |   MSc Data Science   |   Supervised by Dr. Tingting Mu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disputes are slow, costly, and adversarial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828800" y="196596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pptx_build/navy/p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3966" y="215112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971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Expensive litigation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85800" y="34747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£50k+ and 6-12 months to resolve a challenge in the Technology and Construction Court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0" y="196596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/home/claude/pptx_build/navy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446" y="2151126"/>
            <a:ext cx="452628" cy="4526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89120" y="2971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pressure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526280" y="34747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10-day standstill period forces rapid decisions before formal proceedings even begin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9509760" y="196596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/home/claude/pptx_build/navy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4926" y="2151126"/>
            <a:ext cx="452628" cy="4526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0" y="2971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Opaque outcomes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366760" y="34747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turns on lawful process, not on who “deserves” to win the contract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Fusion21 partnered with the University of Manchester to explore whether AI agents can model this negotiation.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agents negotiate toward resolution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286000" cy="260604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build/white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606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337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Contracting Authority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886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Defends the procurement decision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74720" y="2148840"/>
            <a:ext cx="2286000" cy="260604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/>
        </p:spPr>
      </p:sp>
      <p:sp>
        <p:nvSpPr>
          <p:cNvPr id="10" name="Shape 7"/>
          <p:cNvSpPr/>
          <p:nvPr/>
        </p:nvSpPr>
        <p:spPr>
          <a:xfrm>
            <a:off x="4251960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x_build/white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6060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337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Aggrieved Bidder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57600" y="3886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on legal &amp; factual grounds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0" y="2148840"/>
            <a:ext cx="2286000" cy="260604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178040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pptx_build/white/gav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6060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337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Court / Judge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83680" y="3886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process compliance, not merits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326880" y="2148840"/>
            <a:ext cx="2286000" cy="260604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04120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pptx_build/white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26060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18320" y="3337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Agent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509760" y="3886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explanation of outcome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2880360" y="30632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5806440" y="30632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8732520" y="30632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Orchestrated as a LangGraph state machine — negotiation rounds continue until the Court resolves the dispute or a round limit is reached.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an LLM judge not to fabricate evidence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2103120"/>
            <a:ext cx="640080" cy="640080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6" name="Image 0" descr="/home/claude/pptx_build/white/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4258" y="224713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 — Original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33756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verification instruction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Manifest-error findings tracked the CA’s concessions in dialogue, not the underlying facts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5349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Unreliable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89120" y="187452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F4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5760720" y="2103120"/>
            <a:ext cx="640080" cy="640080"/>
          </a:xfrm>
          <a:prstGeom prst="ellipse">
            <a:avLst/>
          </a:prstGeom>
          <a:solidFill>
            <a:srgbClr val="C07A00"/>
          </a:solidFill>
          <a:ln/>
        </p:spPr>
      </p:sp>
      <p:pic>
        <p:nvPicPr>
          <p:cNvPr id="12" name="Image 1" descr="/home/claude/pptx_build/white/w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738" y="224713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8912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— Verification-only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45152" y="333756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independently verify any stated calculation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concession-dependency on the numeric scenario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Overcorrected: fabricated invented point-systems on the qualitative scenario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526280" y="5349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7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Accurate, but hallucinated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229600" y="187452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F4F6FC"/>
          </a:solidFill>
          <a:ln/>
        </p:spPr>
      </p:sp>
      <p:sp>
        <p:nvSpPr>
          <p:cNvPr id="17" name="Shape 13"/>
          <p:cNvSpPr/>
          <p:nvPr/>
        </p:nvSpPr>
        <p:spPr>
          <a:xfrm>
            <a:off x="9601200" y="2103120"/>
            <a:ext cx="640080" cy="640080"/>
          </a:xfrm>
          <a:prstGeom prst="ellipse">
            <a:avLst/>
          </a:prstGeom>
          <a:solidFill>
            <a:srgbClr val="1E7145"/>
          </a:solidFill>
          <a:ln/>
        </p:spPr>
      </p:sp>
      <p:pic>
        <p:nvPicPr>
          <p:cNvPr id="18" name="Image 2" descr="/home/claude/pptx_build/white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5218" y="2247138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 — Conditional (final)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85632" y="333756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exactly when a real formula exists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Rational-basis review when it doesn’t — no invented numbers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366760" y="5349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AND honest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on two benchmark scenarios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manifest-error detection on the numeric scenario (F21-002) under the final V3 prompt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41732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6629400" y="23317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calculations under V3 — down from V2’s systematic hallucination on the qualitative scenario</a:t>
            </a:r>
            <a:endParaRPr lang="en-US" sz="11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3154680"/>
          <a:ext cx="11064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V2’s 100% on F21-001 reflects fabricated arithmetic, not genuine accuracy — exactly the failure V3 corrects.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THEORETICAL GROUNDING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UK procurement law and real disputes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pptx_build/navy/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945" y="1937385"/>
            <a:ext cx="377190" cy="377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Act 2023 (s12)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417320" y="213055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money, public benefit, transparency, integrity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/home/claude/pptx_build/navy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45" y="3217545"/>
            <a:ext cx="377190" cy="3771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TCC &amp; 10-day standstill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417320" y="341071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and Construction Court is the primary venue; a 10-day standstill suspends contract award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3434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/home/claude/pptx_build/navy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" y="4497705"/>
            <a:ext cx="377190" cy="3771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297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Fisher &amp; Ury negotiation theory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417320" y="469087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 over positions, BATNA and ZOPA — Getting to Yes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0" y="17830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17" name="Text 12"/>
          <p:cNvSpPr/>
          <p:nvPr/>
        </p:nvSpPr>
        <p:spPr>
          <a:xfrm>
            <a:off x="6629400" y="1920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Lancashire Care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629400" y="2350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~£104m contract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0104120" y="198424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/>
        </p:spPr>
      </p:sp>
      <p:sp>
        <p:nvSpPr>
          <p:cNvPr id="20" name="Text 15"/>
          <p:cNvSpPr/>
          <p:nvPr/>
        </p:nvSpPr>
        <p:spPr>
          <a:xfrm>
            <a:off x="10104120" y="19842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Lost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400800" y="32004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22" name="Text 17"/>
          <p:cNvSpPr/>
          <p:nvPr/>
        </p:nvSpPr>
        <p:spPr>
          <a:xfrm>
            <a:off x="6629400" y="3337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Faraday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629400" y="3767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~£125–150m contract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10104120" y="340156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/>
        </p:spPr>
      </p:sp>
      <p:sp>
        <p:nvSpPr>
          <p:cNvPr id="25" name="Text 20"/>
          <p:cNvSpPr/>
          <p:nvPr/>
        </p:nvSpPr>
        <p:spPr>
          <a:xfrm>
            <a:off x="10104120" y="34015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Lost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400800" y="46177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27" name="Text 22"/>
          <p:cNvSpPr/>
          <p:nvPr/>
        </p:nvSpPr>
        <p:spPr>
          <a:xfrm>
            <a:off x="6629400" y="4754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Alstom v London Underground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629400" y="51846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~£1.5bn contract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10104120" y="481888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E7145"/>
          </a:solidFill>
          <a:ln/>
        </p:spPr>
      </p:sp>
      <p:sp>
        <p:nvSpPr>
          <p:cNvPr id="30" name="Text 25"/>
          <p:cNvSpPr/>
          <p:nvPr/>
        </p:nvSpPr>
        <p:spPr>
          <a:xfrm>
            <a:off x="10104120" y="48188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Won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are the real UK procurement disputes used to benchmark the system’s legal reasoning.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validated prototype to real-world negotiation tool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463040" y="201168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pptx_build/navy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194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rebuild demoed today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43400" y="201168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/home/claude/pptx_build/navy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1945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Real-case grounding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611880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validated results to real UK judgments — next phase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223760" y="201168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/home/claude/pptx_build/navy/sca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1945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/ RAG layer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492240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agents directly in the Procurement Act 2023 and TCC case law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10104120" y="201168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3" descr="/home/claude/pptx_build/navy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219456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8116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Dissertation submission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9372600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and video due 6–13 September 2026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3063240" y="2148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5989320" y="2148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8915400" y="2148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548640" y="5029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</a:t>
            </a:r>
            <a:endParaRPr lang="en-US" sz="2100" dirty="0"/>
          </a:p>
        </p:txBody>
      </p:sp>
      <p:sp>
        <p:nvSpPr>
          <p:cNvPr id="24" name="Text 18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Shreyas Dilip Lawand   |   shreyaslawand11@gmail.com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2026-08-19T17:29:06Z</dcterms:created>
  <dcterms:modified xsi:type="dcterms:W3CDTF">2026-08-19T17:29:06Z</dcterms:modified>
</cp:coreProperties>
</file>