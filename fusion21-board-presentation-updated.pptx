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7CFB6-0134-4AE6-9FBF-F7A09A74E5B4}" v="5" dt="2026-08-20T08:43:42.7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2941" autoAdjust="0"/>
  </p:normalViewPr>
  <p:slideViewPr>
    <p:cSldViewPr snapToGrid="0" snapToObjects="1">
      <p:cViewPr varScale="1">
        <p:scale>
          <a:sx n="76" d="100"/>
          <a:sy n="76" d="100"/>
        </p:scale>
        <p:origin x="141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3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s Lawand" userId="2fb9d691852bc4d0" providerId="LiveId" clId="{12CC6EF7-B3C4-43C3-B9B7-AB395FEE1EE0}"/>
    <pc:docChg chg="modSld">
      <pc:chgData name="Shreyas Lawand" userId="2fb9d691852bc4d0" providerId="LiveId" clId="{12CC6EF7-B3C4-43C3-B9B7-AB395FEE1EE0}" dt="2026-08-19T23:50:19.285" v="13" actId="20577"/>
      <pc:docMkLst>
        <pc:docMk/>
      </pc:docMkLst>
      <pc:sldChg chg="modNotesTx">
        <pc:chgData name="Shreyas Lawand" userId="2fb9d691852bc4d0" providerId="LiveId" clId="{12CC6EF7-B3C4-43C3-B9B7-AB395FEE1EE0}" dt="2026-08-19T23:50:19.285" v="13" actId="20577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37586-98B7-4ED3-8DEA-636745C6B72C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3E2C26-5394-4DD5-AC6B-B071BA803C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777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morning, everyone. Thank you for the time. I'm Shreyas — I've spent this MSc project with Fusion21 and Dr. Tingting Mu building a system that simulates UK procurement disputes using negotiating LLM agents, grounded in real court judgments rather than made-up scenarios.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Today I want to walk through what the system actually does, what we've learned from testing it against real cases — including a finding from literally yesterday — and where the evaluation is headed before submission.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3E2C26-5394-4DD5-AC6B-B071BA803C2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181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numbers set up why this matters. A challenge that reaches the Technology and Construction Court costs the authority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£50,000 or more and 6 to 12 months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resolve. Before that even happens, the Procurement Act 2023 gives an authority just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eight working days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the standstill period — to respond before formal proceedings can start.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 outcome doesn't turn on who "deserves" the contract. It turns on whether the process was lawful — which is exactly the kind of narrow, procedural question a language model can be taught to reason about carefully.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Fusion21's actual ask wasn't just "simulate a dispute" — it was "help us prevent one." I'll come back to that on slide six, because it changed what I prioritised building.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3E2C26-5394-4DD5-AC6B-B071BA803C2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809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upload a real document — a judgment, a complaint letter, an evaluation report — and an extraction agent turns it into a structured dispute. Four agents then take it from there: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Contracting Authority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defends the decision,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Aggrieved Bidder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challenges it,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assesses process compliance round by round — not who's more sympathetic — and a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Summary agent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writes the plain-English version at the end.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orchestrated as a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LangGraph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state machine: rounds continue until the Court resolves the dispute or we hit a round limit. And it's not a slide-only prototype — it's a live web app, GPU-accelerated on the University's Ronin instance, and I can show it running if that's useful.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3E2C26-5394-4DD5-AC6B-B071BA803C2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076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finding I'm proudest of, and it's the one I'd lead with if I only had one slide. Version 1 of the Court agent had no independent verification — it just tracked whether the authority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conceded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conversation, not whether the numbers actually added up.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Version 2 added "always verify the calculation yourself." That fixed the numeric case completely — but it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overcorrected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on a qualitative scenario with no real scoring formula, it started inventing point systems to have something to verify. Accurate-sounding, but hallucinated.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 3 is the fix: compute exactly when a real formula exists, do a rational-basis review when it doesn't — and never invent numbers either way. That's held since. Version 4, which is what's running now, keeps that machinery completely untouched and re-specifies the Court's own interests against Fusion21's actual "Courts and Judiciary" framework from your own materials — so it's not just accurate, it's grounded in how you actually described the judiciary's incentives to us.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3E2C26-5394-4DD5-AC6B-B071BA803C2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2102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Coming back to what I flagged on slide two — Phil's actual framing was prevention, not simulation. So the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pre-award challenge risk screen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module I'd call the real deliverable here: no LLM call, rule-based, scores a procurement's challenge risk before the standstill letter even goes out, and every rule traces back to a specific line in your own "Practical Considerations" tables.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Alongside it, a settlement recommendation synthesizer — framed honestly as a computational Early Neutral Evaluation, not legal advice.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one architecture finding worth sitting with: at six real cases, our full multi-agent pipeline ties a single naive LLM call on raw accuracy — six out of six each. Where the architecture actually earns its complexity is different: strip the Court agent out entirely, and </a:t>
            </a:r>
            <a:r>
              <a:rPr lang="en-I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zero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eighteen runs ever resolve. Nothing else in the system can decide the parties have converged. That's the real argument for multi-agent — not accuracy, capability.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3E2C26-5394-4DD5-AC6B-B071BA803C2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178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FE3D1"/>
                </a:solidFill>
                <a:latin typeface="Lato"/>
              </a:rPr>
              <a:t>FUSION21  ×  UNIVERSITY OF MANCHESTER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78638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ato"/>
              </a:rPr>
              <a:t>Multi-Agent LLM Negotiation for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ato"/>
              </a:rPr>
              <a:t>Procurement Dispute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6ECE1"/>
                </a:solidFill>
                <a:latin typeface="Lato"/>
              </a:rPr>
              <a:t>Simulating UK procurement disputes with negotiating LLM agents 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6ECE1"/>
                </a:solidFill>
                <a:latin typeface="Lato"/>
              </a:rPr>
              <a:t>grounded in real judgments, not synthetic scenarios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074920"/>
            <a:ext cx="2011680" cy="19050"/>
          </a:xfrm>
          <a:prstGeom prst="rect">
            <a:avLst/>
          </a:prstGeom>
          <a:solidFill>
            <a:srgbClr val="4CA9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7498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Lato"/>
              </a:rPr>
              <a:t>Shreyas Dilip Lawand   |   MSc Data Science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FE3D1"/>
                </a:solidFill>
                <a:latin typeface="Lato"/>
              </a:rPr>
              <a:t>Supervised by Dr. Tingting 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CFB8"/>
                </a:solidFill>
                <a:latin typeface="Lato"/>
              </a:rPr>
              <a:t>Board update — 20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04A"/>
                </a:solidFill>
                <a:latin typeface="Lato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12B"/>
                </a:solidFill>
                <a:latin typeface="Lato"/>
              </a:rPr>
              <a:t>Procurement disputes are slow, costly, and adversarial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Fusion21  ×  University of Manchester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61188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£50k+ / 6–12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40280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Expensive litigation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87752"/>
            <a:ext cx="320954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Cost to resolve a challenge in the Technology and Construction Court, once formal proceedings begin.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0020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361188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764792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8 working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240280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Time pressure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587752"/>
            <a:ext cx="320954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The Procurement Act 2023 standstill period (s51(2)) forces rapid decisions before formal proceedings even begin.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600200"/>
            <a:ext cx="36118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1600200"/>
            <a:ext cx="361188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9328" y="1764792"/>
            <a:ext cx="3209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Process, not merit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2240280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Opaque outcomes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587752"/>
            <a:ext cx="3209544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Success turns on whether the process was lawful — not on who “deserves” to win the contract.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709160"/>
            <a:ext cx="108813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E212B"/>
                </a:solidFill>
                <a:latin typeface="Lato"/>
              </a:rPr>
              <a:t>Fusion21 partnered with the University of Manchester to explore whether AI agents can model this negotiation — and, further upstream, help prevent disputes from being raised at 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04A"/>
                </a:solidFill>
                <a:latin typeface="Lato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12B"/>
                </a:solidFill>
                <a:latin typeface="Lato"/>
              </a:rPr>
              <a:t>Real documents in, negotiated resolution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Fusion21  ×  University of Manchester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Lato"/>
              </a:rPr>
              <a:t>An extraction agent turns uploaded case documents (a judgment, a complaint letter, an evaluation report — PDF, DOCX, or plain text) into a structured dispute scenario. Four agents then negotiate it: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26060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31343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88920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Contracting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36392"/>
            <a:ext cx="22037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Defends the procurement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14884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0" y="2148840"/>
            <a:ext cx="26060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93008" y="231343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788920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Aggrieved Bidder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3136392"/>
            <a:ext cx="22037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Challenges on legal &amp; factual grounds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214884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35040" y="2148840"/>
            <a:ext cx="26060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208" y="231343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788920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Court / Judge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136392"/>
            <a:ext cx="22037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Assesses process compliance, not merits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2148840"/>
            <a:ext cx="260604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78240" y="2148840"/>
            <a:ext cx="26060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9408" y="2313432"/>
            <a:ext cx="22037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2788920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Summary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3136392"/>
            <a:ext cx="220370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Plain-English explanation of the outcome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605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12B"/>
                </a:solidFill>
                <a:latin typeface="Lato"/>
              </a:rPr>
              <a:t>Orchestrated as a LangGraph state machine — negotiation rounds continue until the Court resolves the dispute or a round limit is reached.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92040"/>
            <a:ext cx="107442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48640" y="4892040"/>
            <a:ext cx="1074420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5056632"/>
            <a:ext cx="103418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Live, GPU-accelerated web application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404104"/>
            <a:ext cx="10341864" cy="6126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Upload real case documents → extract → watch the negotiation live via streaming updates. Deployed with acceleration from the University's Ronin GPU instance for near-real-time demos.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04A"/>
                </a:solidFill>
                <a:latin typeface="Lato"/>
              </a:rPr>
              <a:t>CORE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12B"/>
                </a:solidFill>
                <a:latin typeface="Lato"/>
              </a:rPr>
              <a:t>Teaching an LLM judge not to fabricate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Fusion21  ×  University of Manchester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2432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2624328" cy="54864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2221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V1 — 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12264"/>
            <a:ext cx="2221992" cy="262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No independent verification instruction. Manifest-error findings tracked the CA’s concessions in dialogue, not the underlying facts.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2258568" cy="347472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i="0">
                <a:solidFill>
                  <a:srgbClr val="B16A00"/>
                </a:solidFill>
                <a:latin typeface="Lato"/>
              </a:rPr>
              <a:t>Unreliable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600200"/>
            <a:ext cx="262432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128" y="1600200"/>
            <a:ext cx="2624328" cy="54864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1296" y="1764792"/>
            <a:ext cx="2221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V2 — Verification-only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112264"/>
            <a:ext cx="2221992" cy="262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Always independently verify any stated calculation. Fixed concession-dependency on the numeric scenario — but overcorrected: invented point-systems on qualitative scenarios.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3008" y="4343400"/>
            <a:ext cx="2258568" cy="347472"/>
          </a:xfrm>
          <a:prstGeom prst="roundRect">
            <a:avLst>
              <a:gd name="adj" fmla="val 50000"/>
            </a:avLst>
          </a:prstGeom>
          <a:solidFill>
            <a:srgbClr val="FB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i="0">
                <a:solidFill>
                  <a:srgbClr val="B16A00"/>
                </a:solidFill>
                <a:latin typeface="Lato"/>
              </a:rPr>
              <a:t>Accurate, but hallucinated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1616" y="1600200"/>
            <a:ext cx="262432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71616" y="1600200"/>
            <a:ext cx="2624328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72784" y="1764792"/>
            <a:ext cx="2221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V3 — Conditional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2112264"/>
            <a:ext cx="2221992" cy="262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Compute exactly when a real formula exists. Rational-basis review when it doesn’t — no invented numbers either way.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4496" y="4343400"/>
            <a:ext cx="2258568" cy="347472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i="0">
                <a:solidFill>
                  <a:srgbClr val="005C36"/>
                </a:solidFill>
                <a:latin typeface="Lato"/>
              </a:rPr>
              <a:t>Accurate and honest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33104" y="1600200"/>
            <a:ext cx="262432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33104" y="1600200"/>
            <a:ext cx="2624328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34272" y="1764792"/>
            <a:ext cx="22219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V4 — Current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2112264"/>
            <a:ext cx="2221992" cy="2624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V3’s verification machinery, unchanged — with the Court’s interests re-specified against Fusion21’s own “Courts/Judiciary” framework.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15984" y="4343400"/>
            <a:ext cx="2258568" cy="347472"/>
          </a:xfrm>
          <a:prstGeom prst="roundRect">
            <a:avLst>
              <a:gd name="adj" fmla="val 50000"/>
            </a:avLst>
          </a:prstGeom>
          <a:solidFill>
            <a:srgbClr val="E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50" b="1" i="0">
                <a:solidFill>
                  <a:srgbClr val="005C36"/>
                </a:solidFill>
                <a:latin typeface="Lato"/>
              </a:rPr>
              <a:t>Client-grounded, still honest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74920"/>
            <a:ext cx="10744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12B"/>
                </a:solidFill>
                <a:latin typeface="Lato"/>
              </a:rPr>
              <a:t>Never fabricated arithmetic on a qualitative scenario — the project’s central, hard-won empirical result, held from V3 onward and re-verified after every later prompt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04A"/>
                </a:solidFill>
                <a:latin typeface="Lato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12B"/>
                </a:solidFill>
                <a:latin typeface="Lato"/>
              </a:rPr>
              <a:t>Validated against 23 real UK procurement judgments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Fusion21  ×  University of Manchester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Lato"/>
              </a:rPr>
              <a:t>V3 vs V4 resolution rate, n=8 runs / 5 rounds per case, 5 real disputes: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74519"/>
          <a:ext cx="672083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23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9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9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Lato"/>
                        </a:rPr>
                        <a:t>Case</a:t>
                      </a:r>
                    </a:p>
                  </a:txBody>
                  <a:tcPr marL="73152" marR="73152" marT="36576" marB="36576" anchor="ctr"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Lato"/>
                        </a:rPr>
                        <a:t>V3 resolution</a:t>
                      </a:r>
                    </a:p>
                  </a:txBody>
                  <a:tcPr marL="73152" marR="73152" marT="36576" marB="36576" anchor="ctr"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Lato"/>
                        </a:rPr>
                        <a:t>V4 resolution</a:t>
                      </a:r>
                    </a:p>
                  </a:txBody>
                  <a:tcPr marL="73152" marR="73152" marT="36576" marB="36576" anchor="ctr">
                    <a:solidFill>
                      <a:srgbClr val="1E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E212B"/>
                          </a:solidFill>
                          <a:latin typeface="Lato"/>
                        </a:rPr>
                        <a:t>Alstom v London Underground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50.0% (4/8)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5B6270"/>
                          </a:solidFill>
                          <a:latin typeface="Lato"/>
                        </a:rPr>
                        <a:t>100% (8/8)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E212B"/>
                          </a:solidFill>
                          <a:latin typeface="Lato"/>
                        </a:rPr>
                        <a:t>Faraday v West Berkshire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75.0% (6/8)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100% (8/8)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E212B"/>
                          </a:solidFill>
                          <a:latin typeface="Lato"/>
                        </a:rPr>
                        <a:t>Lancashire Care v LCC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87.5% (7/8)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100% (8/8)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E212B"/>
                          </a:solidFill>
                          <a:latin typeface="Lato"/>
                        </a:rPr>
                        <a:t>Woods v Milton Keynes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100% (8/8)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100% (7/7 successful)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E212B"/>
                          </a:solidFill>
                          <a:latin typeface="Lato"/>
                        </a:rPr>
                        <a:t>Parkingeye v Velindre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87.5% (7/8)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 dirty="0">
                          <a:solidFill>
                            <a:srgbClr val="5B6270"/>
                          </a:solidFill>
                          <a:latin typeface="Lato"/>
                        </a:rPr>
                        <a:t>100% (8/8)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43800" y="1874519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0804A"/>
                </a:solidFill>
                <a:latin typeface="Lato"/>
              </a:rPr>
              <a:t>0 /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679191"/>
            <a:ext cx="1965960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genuine Court fabrications, 141 real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20" y="1874519"/>
            <a:ext cx="19659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00804A"/>
                </a:solidFill>
                <a:latin typeface="Lato"/>
              </a:rPr>
              <a:t>0 /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679191"/>
            <a:ext cx="1965960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ungrounded numbers, zero-shot control 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611880"/>
            <a:ext cx="40690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3611880"/>
            <a:ext cx="4069080" cy="54864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44968" y="3776472"/>
            <a:ext cx="36667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p = 0.077 (largest gap, Alstom)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123944"/>
            <a:ext cx="3666744" cy="795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None of the five cases reach conventional statistical significance at n=8 — report every rate as a rate, not a verdict.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66360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12B"/>
                </a:solidFill>
                <a:latin typeface="Lato"/>
              </a:rPr>
              <a:t>V4 resolves at 100% on every case, never below it — which is itself worth reading carefully: this is exactly the settlement-encouraging bias Fusion21’s own “Efficient Use of Judicial Resources” interest would predict, and needs a qualitative transcript read (does it fabricate, concede prematurely, or genuinely resolve well?) before being cited as an unqualified positive.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04A"/>
                </a:solidFill>
                <a:latin typeface="Lato"/>
              </a:rPr>
              <a:t>ADDITIONAL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12B"/>
                </a:solidFill>
                <a:latin typeface="Lato"/>
              </a:rPr>
              <a:t>Simulating disputes is not the highest-value output — preventing them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Fusion21  ×  University of Manchester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53492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Pre-award challenge risk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12264"/>
            <a:ext cx="4946904" cy="1709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Rule-based, no LLM call. Scores a procurement’s challenge risk BEFORE the standstill letter goes out, traced to Fusion21’s own “Practical Considerations” table. This is Fusion21’s own highest-priority ask — “how can we prevent these dispute negotiations” — not an afterthought to the simulator.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00200"/>
            <a:ext cx="53492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0" y="1600200"/>
            <a:ext cx="53492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36208" y="1764792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Settlement recommendation synthesizer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112264"/>
            <a:ext cx="4946904" cy="1709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Aggregates a batch of repeated negotiation runs into a modal-outcome recommendation with explicit dissent reporting, framed as computational Early Neutral Evaluation — a real, TCC-adjacent process, not an invented category.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108356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10835640" cy="54864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279392"/>
            <a:ext cx="104333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Does the multi-agent design earn its complexity?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626864"/>
            <a:ext cx="10433304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At n=6 real cases with a clean merits disposition, the full pipeline and a naive single-call zero-shot baseline tie exactly on direction-accuracy (6/6 each) — a heuristic majority-class guess gets 5/6. The real architectural case is elsewhere: removing the Court agent entirely produces 100% deadlock, 0/18 runs resolved, uniformly across every case. Nothing in this system can decide the parties have converged except the Court’s own check — that is where the multi-agent design earns its keep, not raw scoring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04A"/>
                </a:solidFill>
                <a:latin typeface="Lato"/>
              </a:rPr>
              <a:t>LEGAL &amp; THEORETICAL GROUNDING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12B"/>
                </a:solidFill>
                <a:latin typeface="Lato"/>
              </a:rPr>
              <a:t>Grounded in UK procurement law and real disputes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Fusion21  ×  University of Manchester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61188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Procurement Act 2023 (s12)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12264"/>
            <a:ext cx="3209544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Value for money, public benefit, transparency, integrity.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361188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1764792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TCC &amp; the standstill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112264"/>
            <a:ext cx="3209544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The Technology and Construction Court is the primary venue; an 8-working-day standstill (s51(2)) suspends contract award.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600200"/>
            <a:ext cx="361188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764792"/>
            <a:ext cx="3209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Fisher &amp; Ury negotiation theory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112264"/>
            <a:ext cx="3209544" cy="978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Interests over positions, BATNA and ZOPA — Getting to Yes.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429000"/>
          <a:ext cx="10835639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4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0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Lato"/>
                        </a:rPr>
                        <a:t>Real case</a:t>
                      </a:r>
                    </a:p>
                  </a:txBody>
                  <a:tcPr marL="73152" marR="73152" marT="36576" marB="36576" anchor="ctr"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Lato"/>
                        </a:rPr>
                        <a:t>Contract value</a:t>
                      </a:r>
                    </a:p>
                  </a:txBody>
                  <a:tcPr marL="73152" marR="73152" marT="36576" marB="36576" anchor="ctr"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Lato"/>
                        </a:rPr>
                        <a:t>Outcome</a:t>
                      </a:r>
                    </a:p>
                  </a:txBody>
                  <a:tcPr marL="73152" marR="73152" marT="36576" marB="36576" anchor="ctr">
                    <a:solidFill>
                      <a:srgbClr val="1E21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E212B"/>
                          </a:solidFill>
                          <a:latin typeface="Lato"/>
                        </a:rPr>
                        <a:t>Lancashire Care v Lancashire CC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~£104m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CA Lost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E212B"/>
                          </a:solidFill>
                          <a:latin typeface="Lato"/>
                        </a:rPr>
                        <a:t>Faraday v West Berkshire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~£125m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CA Lost (on appeal)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E212B"/>
                          </a:solidFill>
                          <a:latin typeface="Lato"/>
                        </a:rPr>
                        <a:t>Parkingeye v Velindre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First-ever Procurement Act 2023 judgment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CA Lost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E212B"/>
                          </a:solidFill>
                          <a:latin typeface="Lato"/>
                        </a:rPr>
                        <a:t>Alstom v London Underground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£112.1m (verified)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5B6270"/>
                          </a:solidFill>
                          <a:latin typeface="Lato"/>
                        </a:rPr>
                        <a:t>CA Won</a:t>
                      </a:r>
                    </a:p>
                  </a:txBody>
                  <a:tcPr marL="73152" marR="73152" marT="27432" marB="27432" anchor="ctr">
                    <a:solidFill>
                      <a:srgbClr val="E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603504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909C"/>
                </a:solidFill>
                <a:latin typeface="Lato"/>
              </a:rPr>
              <a:t>These are 4 of the 23 real UK procurement judgments used to benchmark the system’s legal reasoning.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04A"/>
                </a:solidFill>
                <a:latin typeface="Lato"/>
              </a:rPr>
              <a:t>LATEST FINDING — 19–20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12B"/>
                </a:solidFill>
                <a:latin typeface="Lato"/>
              </a:rPr>
              <a:t>The Court was answering the wrong legal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Fusion21  ×  University of Manchester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Lato"/>
              </a:rPr>
              <a:t>Prime Way Care v Southwark and Geodesign v Environment Agency are both applications for early specific disclosure (CPR 31.12) — not scoring disputes. The Court reasoned about “manifest error” anyway, and its final verdict contradicted the real recorded outcome in both.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5349240" cy="54864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496312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43784"/>
            <a:ext cx="4946904" cy="2167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834640"/>
            <a:ext cx="494690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B6270"/>
                </a:solidFill>
                <a:latin typeface="Lato"/>
              </a:rPr>
              <a:t>• Cited fabricated citations — a regulation number and a statute that appear in neither real judgment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B6270"/>
                </a:solidFill>
                <a:latin typeface="Lato"/>
              </a:rPr>
              <a:t>• Reasoned about scoring “manifest error” — the wrong legal question entirely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270"/>
                </a:solidFill>
                <a:latin typeface="Lato"/>
              </a:rPr>
              <a:t>• Final verdict: “re-evaluation ordered” / “no remedy” — contradicts what each real court actually decided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331720"/>
            <a:ext cx="534924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2331720"/>
            <a:ext cx="53492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8" y="2496312"/>
            <a:ext cx="49469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2843784"/>
            <a:ext cx="4946904" cy="2167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2834640"/>
            <a:ext cx="494690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B6270"/>
                </a:solidFill>
                <a:latin typeface="Lato"/>
              </a:rPr>
              <a:t>• A deterministic classifier routes disclosure disputes to a dedicated Court prompt grounded in the real Roche Diagnostics principles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>
                <a:solidFill>
                  <a:srgbClr val="5B6270"/>
                </a:solidFill>
                <a:latin typeface="Lato"/>
              </a:rPr>
              <a:t>• Assesses prima facie case, proportionality, and confidentiality — the merits-branch prompt is untouched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270"/>
                </a:solidFill>
                <a:latin typeface="Lato"/>
              </a:rPr>
              <a:t>• Final verdict: “disclosure ordered” in both — matching the true recorded holding, citing real authorities instead of invented 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10835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12B"/>
                </a:solidFill>
                <a:latin typeface="Lato"/>
              </a:rPr>
              <a:t>Verified with zero regression across the existing 5-case validated benchmark (n=16 re-check on the one borderline case).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04A"/>
                </a:solidFill>
                <a:latin typeface="Lato"/>
              </a:rPr>
              <a:t>EVALUATION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12B"/>
                </a:solidFill>
                <a:latin typeface="Lato"/>
              </a:rPr>
              <a:t>How this system is validated, end to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Fusion21  ×  University of Manchester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35204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240280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Structural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587752"/>
            <a:ext cx="311810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JSON schema compliance rate, repair-retry rate, per-agent coercion tracking — a run that needed no repair looked identical to one that needed constant repair until this was instrumented.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5384" y="160020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15384" y="1600200"/>
            <a:ext cx="35204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16552" y="1764792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240280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Anti-fabrication audits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587752"/>
            <a:ext cx="311810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Citation-validity screen (wrong-regime detection), qualitative Step 2B fabrication screen (0/6 confirmed on 141 real logs), and today’s contract-value / legal-basis grounding checks.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8" y="160020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82128" y="1600200"/>
            <a:ext cx="35204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83296" y="1764792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2240280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Outcome validity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587752"/>
            <a:ext cx="311810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V3/V4 ablation across 5 real cases with Fisher’s exact significance testing; direction-accuracy against real recorded holdings (2/2 on disclosure disputes, ~6/7 historically on merits disputes).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35204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" y="4279392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754880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Architectural necessity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102352"/>
            <a:ext cx="311810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Baseline comparisons — majority-class heuristic, zero-shot LLM, no-Court ablation — isolate what the multi-agent design actually earns over a single call.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15384" y="411480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15384" y="4114800"/>
            <a:ext cx="35204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16552" y="4279392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4754880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Process &amp; readability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5102352"/>
            <a:ext cx="311810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Flesch readability of plain-English summaries, BATNA-outcome asymmetry, concession-dynamics tracking across the full negotiation transcript.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82128" y="411480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82128" y="4114800"/>
            <a:ext cx="35204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83296" y="4279392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804A"/>
                </a:solidFill>
                <a:latin typeface="Lato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83296" y="4754880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Growing real-case corpus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5102352"/>
            <a:ext cx="3118104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23 real UK judgments and counting — the sole validation substrate. No synthetic scenarios remain in the corpus; every fix in this project is now tested against real documents, not hand-written cases.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804A"/>
                </a:solidFill>
                <a:latin typeface="Lato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E212B"/>
                </a:solidFill>
                <a:latin typeface="Lato"/>
              </a:rPr>
              <a:t>From validated prototype to real-world negotiation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Fusion21  ×  University of Manchester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09C"/>
                </a:solidFill>
                <a:latin typeface="Lato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26060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764792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Real-case grounding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12264"/>
            <a:ext cx="2203704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DONE — 23 real judgments, merits and disclosure branches both validated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6002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0" y="1600200"/>
            <a:ext cx="2606040" cy="54864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1764792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Knowledge / RAG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112264"/>
            <a:ext cx="2203704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Not yet built — direct retrieval grounding in the Procurement Act 2023 and TCC case law remains the main known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6002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0" y="1600200"/>
            <a:ext cx="2606040" cy="54864"/>
          </a:xfrm>
          <a:prstGeom prst="rect">
            <a:avLst/>
          </a:prstGeom>
          <a:solidFill>
            <a:srgbClr val="B1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8" y="1764792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Claude API migration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112264"/>
            <a:ext cx="2203704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Dependencies staged, not yet wired in — planned once API credits are 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600200"/>
            <a:ext cx="2606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78240" y="1600200"/>
            <a:ext cx="2606040" cy="54864"/>
          </a:xfrm>
          <a:prstGeom prst="rect">
            <a:avLst/>
          </a:prstGeom>
          <a:solidFill>
            <a:srgbClr val="008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79408" y="1764792"/>
            <a:ext cx="22037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12B"/>
                </a:solidFill>
                <a:latin typeface="Lato"/>
              </a:rPr>
              <a:t>Dissertation submission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112264"/>
            <a:ext cx="2203704" cy="1344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270"/>
                </a:solidFill>
                <a:latin typeface="Lato"/>
              </a:rPr>
              <a:t>Report and video due 6–13 September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77639"/>
            <a:ext cx="10835640" cy="12700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10835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E212B"/>
                </a:solidFill>
                <a:latin typeface="Lato"/>
              </a:rPr>
              <a:t>Thank you — questions welcome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83480"/>
            <a:ext cx="10835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270"/>
                </a:solidFill>
                <a:latin typeface="Lato"/>
              </a:rPr>
              <a:t>Shreyas Dilip Lawand   |   shreyaslawand11@gmail.com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2269</Words>
  <Application>Microsoft Office PowerPoint</Application>
  <PresentationFormat>Widescreen</PresentationFormat>
  <Paragraphs>193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Shreyas Lawand</cp:lastModifiedBy>
  <cp:revision>1</cp:revision>
  <dcterms:created xsi:type="dcterms:W3CDTF">2013-01-27T09:14:16Z</dcterms:created>
  <dcterms:modified xsi:type="dcterms:W3CDTF">2026-08-20T08:43:53Z</dcterms:modified>
  <cp:category/>
</cp:coreProperties>
</file>